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42826"/>
            <a:ext cx="8127797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8936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spc="-5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CuraStyl 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5242322"/>
            <a:ext cx="10868745" cy="1072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India's 1st AI-Enabled Hyperlocal Salon Marketplace &amp; 3D WebAR Virtual Try-On Super-App</a:t>
            </a:r>
            <a:endParaRPr lang="en-US" sz="1150" dirty="0"/>
          </a:p>
          <a:p>
            <a:pPr algn="l" indent="0" marL="0">
              <a:lnSpc>
                <a:spcPct val="96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🏆</a:t>
            </a:r>
            <a:pPr algn="l" indent="0" marL="0">
              <a:lnSpc>
                <a:spcPct val="96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E91E8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PITCHX 2026 | JIO WORLD CENTRE, BKC MUMBAI</a:t>
            </a:r>
            <a:endParaRPr lang="en-US" sz="1150" dirty="0"/>
          </a:p>
          <a:p>
            <a:pPr algn="l" indent="0" marL="0">
              <a:lnSpc>
                <a:spcPct val="96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AgniDev's</a:t>
            </a:r>
            <a:pPr algn="l" indent="0" marL="0">
              <a:lnSpc>
                <a:spcPct val="96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FRCRCE, Mumbai  |  Shreyas • Arnav • Akshat</a:t>
            </a:r>
            <a:endParaRPr lang="en-US" sz="11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🌐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Live: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https://curastyl.agnidev.me  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⚡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  </a:t>
            </a:r>
            <a:pPr algn="l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Tech: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Next.js 15, MediaPipe WebAR, Gemini 1.5, Supabase RLS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21891"/>
            <a:ext cx="6296860" cy="117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Problem: ₹65,000 Cr Market Broken Into 3 Pillars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950641"/>
            <a:ext cx="3062608" cy="2564309"/>
          </a:xfrm>
          <a:prstGeom prst="roundRect">
            <a:avLst>
              <a:gd name="adj" fmla="val 295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32488" y="2149773"/>
            <a:ext cx="2664354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Consumer Side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32488" y="2551906"/>
            <a:ext cx="2664354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82% Post-Haircut Regret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32488" y="2883595"/>
            <a:ext cx="2664354" cy="1432223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Cannot visualize hairstyles on unique face structure &amp; skin tone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Miscommunication between reference images and stylist execution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67612" y="1950641"/>
            <a:ext cx="3062608" cy="2564309"/>
          </a:xfrm>
          <a:prstGeom prst="roundRect">
            <a:avLst>
              <a:gd name="adj" fmla="val 295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66739" y="2149773"/>
            <a:ext cx="2664354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💼</a:t>
            </a:r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Salon Side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66739" y="2551906"/>
            <a:ext cx="2664354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42% Idle Capacity &amp; 20%+ No-Shows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66739" y="3112294"/>
            <a:ext cx="2664354" cy="1203523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Empty chair time destroys profitability on weekdays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Unconfirmed phone bookings lead to costly no-shows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686598"/>
            <a:ext cx="6296860" cy="1649512"/>
          </a:xfrm>
          <a:prstGeom prst="roundRect">
            <a:avLst>
              <a:gd name="adj" fmla="val 458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32488" y="4885730"/>
            <a:ext cx="5898606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Industry Side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432488" y="5287863"/>
            <a:ext cx="5898606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C489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Fragmented &amp; Manual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32488" y="5619552"/>
            <a:ext cx="5898606" cy="517426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 Maps &amp; JustDial: static directories, zero live scheduling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90% of salons manage business on paper &amp; WhatsApp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134"/>
            <a:ext cx="10868745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Solution: Triple-Engine Ecosystem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00572"/>
            <a:ext cx="3888782" cy="1588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163" y="1579066"/>
            <a:ext cx="3455603" cy="52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AuraAI: Gemini 1.5 Styling Assistant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16163" y="2238077"/>
            <a:ext cx="3455603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Multimodal AI analyzes facial anatomy, skin tone, hair texture. Real-time visual inspiration + direct salon booking links.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24101"/>
            <a:ext cx="3888782" cy="1329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6163" y="3302595"/>
            <a:ext cx="3455603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🎥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3D WebAR Virtual Try-On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6163" y="3702546"/>
            <a:ext cx="3455603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MediaPipe Face Mesh (468 3D landmarks @ 60 FPS). Dynamic 3D hairstyle overlays—zero app installation required.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88570"/>
            <a:ext cx="3888782" cy="15889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6163" y="4767064"/>
            <a:ext cx="3455603" cy="52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Hyperlocal Marketplace &amp; B2B SaaS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6163" y="5426075"/>
            <a:ext cx="3455603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slot locking, instant UPI payments, QR check-in, GlamPoints rewards + Comprehensive Salon Owner ERP.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945733" y="1383804"/>
            <a:ext cx="659073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Competitive Advantage Matrix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4945733" y="1794173"/>
            <a:ext cx="6590738" cy="3571577"/>
          </a:xfrm>
          <a:prstGeom prst="roundRect">
            <a:avLst>
              <a:gd name="adj" fmla="val 187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45733" y="2359720"/>
            <a:ext cx="6590738" cy="99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945733" y="3113088"/>
            <a:ext cx="6590738" cy="99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4945733" y="3675459"/>
            <a:ext cx="6590738" cy="99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4945733" y="4237831"/>
            <a:ext cx="6590738" cy="99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4945733" y="4800203"/>
            <a:ext cx="6590738" cy="99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048720" y="1794173"/>
            <a:ext cx="9968" cy="35715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7145258" y="1794173"/>
            <a:ext cx="9968" cy="35715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8241796" y="1794173"/>
            <a:ext cx="9968" cy="35715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9338334" y="1794173"/>
            <a:ext cx="9968" cy="35715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10434873" y="1794173"/>
            <a:ext cx="9968" cy="35715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4952182" y="1800523"/>
            <a:ext cx="1096538" cy="559197"/>
          </a:xfrm>
          <a:custGeom>
            <a:avLst/>
            <a:gdLst/>
            <a:ahLst/>
            <a:cxnLst/>
            <a:rect l="l" t="t" r="r" b="b"/>
            <a:pathLst>
              <a:path w="1096538" h="559197">
                <a:moveTo>
                  <a:pt x="55820" y="0"/>
                </a:moveTo>
                <a:lnTo>
                  <a:pt x="1096538" y="0"/>
                </a:lnTo>
                <a:lnTo>
                  <a:pt x="1096538" y="559197"/>
                </a:lnTo>
                <a:lnTo>
                  <a:pt x="0" y="559197"/>
                </a:lnTo>
                <a:lnTo>
                  <a:pt x="0" y="55821"/>
                </a:lnTo>
                <a:arcTo hR="55821" wR="55820" stAng="10800000" swAng="5400000"/>
                <a:close/>
              </a:path>
            </a:pathLst>
          </a:custGeom>
          <a:solidFill>
            <a:srgbClr val="E91E8C"/>
          </a:solidFill>
          <a:ln/>
        </p:spPr>
      </p:sp>
      <p:sp>
        <p:nvSpPr>
          <p:cNvPr id="25" name="Text 20"/>
          <p:cNvSpPr/>
          <p:nvPr/>
        </p:nvSpPr>
        <p:spPr>
          <a:xfrm>
            <a:off x="5111622" y="1887538"/>
            <a:ext cx="774482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048720" y="1800523"/>
            <a:ext cx="1096538" cy="559197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7" name="Text 22"/>
          <p:cNvSpPr/>
          <p:nvPr/>
        </p:nvSpPr>
        <p:spPr>
          <a:xfrm>
            <a:off x="6211335" y="1887538"/>
            <a:ext cx="138089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CuraStyl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145258" y="1800523"/>
            <a:ext cx="1096538" cy="559197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9" name="Text 24"/>
          <p:cNvSpPr/>
          <p:nvPr/>
        </p:nvSpPr>
        <p:spPr>
          <a:xfrm>
            <a:off x="7307873" y="1887538"/>
            <a:ext cx="138089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Urban Co.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41796" y="1800523"/>
            <a:ext cx="1096538" cy="559197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1" name="Text 26"/>
          <p:cNvSpPr/>
          <p:nvPr/>
        </p:nvSpPr>
        <p:spPr>
          <a:xfrm>
            <a:off x="8404412" y="1887538"/>
            <a:ext cx="138089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Fresha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9338334" y="1800523"/>
            <a:ext cx="1096538" cy="559197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3" name="Text 28"/>
          <p:cNvSpPr/>
          <p:nvPr/>
        </p:nvSpPr>
        <p:spPr>
          <a:xfrm>
            <a:off x="9500950" y="1887538"/>
            <a:ext cx="1380892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Nykaa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10434873" y="1800523"/>
            <a:ext cx="1096538" cy="559197"/>
          </a:xfrm>
          <a:custGeom>
            <a:avLst/>
            <a:gdLst/>
            <a:ahLst/>
            <a:cxnLst/>
            <a:rect l="l" t="t" r="r" b="b"/>
            <a:pathLst>
              <a:path w="1096538" h="559197">
                <a:moveTo>
                  <a:pt x="0" y="0"/>
                </a:moveTo>
                <a:lnTo>
                  <a:pt x="1040719" y="0"/>
                </a:lnTo>
                <a:arcTo hR="55821" wR="55820" stAng="16200000" swAng="5400000"/>
                <a:lnTo>
                  <a:pt x="1096538" y="559197"/>
                </a:lnTo>
                <a:lnTo>
                  <a:pt x="0" y="559197"/>
                </a:lnTo>
                <a:lnTo>
                  <a:pt x="0" y="0"/>
                </a:lnTo>
                <a:close/>
              </a:path>
            </a:pathLst>
          </a:custGeom>
          <a:solidFill>
            <a:srgbClr val="E91E8C"/>
          </a:solidFill>
          <a:ln/>
        </p:spPr>
      </p:sp>
      <p:sp>
        <p:nvSpPr>
          <p:cNvPr id="35" name="Text 30"/>
          <p:cNvSpPr/>
          <p:nvPr/>
        </p:nvSpPr>
        <p:spPr>
          <a:xfrm>
            <a:off x="10597488" y="1887538"/>
            <a:ext cx="138406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JustDial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5111622" y="2449909"/>
            <a:ext cx="77448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3D WebAR Try-On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6211335" y="244990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7307873" y="244990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8404412" y="244990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9500950" y="244990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⚠️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10597488" y="2449909"/>
            <a:ext cx="138406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5111622" y="3203277"/>
            <a:ext cx="774482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AI Stylist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6211335" y="3203277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7307873" y="3203277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8404412" y="3203277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46" name="Text 41"/>
          <p:cNvSpPr/>
          <p:nvPr/>
        </p:nvSpPr>
        <p:spPr>
          <a:xfrm>
            <a:off x="9500950" y="3203277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10597488" y="3203277"/>
            <a:ext cx="138406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5111622" y="3765649"/>
            <a:ext cx="774482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Hyperlocal Booking</a:t>
            </a:r>
            <a:endParaRPr lang="en-US" sz="1250" dirty="0"/>
          </a:p>
        </p:txBody>
      </p:sp>
      <p:sp>
        <p:nvSpPr>
          <p:cNvPr id="49" name="Text 44"/>
          <p:cNvSpPr/>
          <p:nvPr/>
        </p:nvSpPr>
        <p:spPr>
          <a:xfrm>
            <a:off x="6211335" y="376564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250" dirty="0"/>
          </a:p>
        </p:txBody>
      </p:sp>
      <p:sp>
        <p:nvSpPr>
          <p:cNvPr id="50" name="Text 45"/>
          <p:cNvSpPr/>
          <p:nvPr/>
        </p:nvSpPr>
        <p:spPr>
          <a:xfrm>
            <a:off x="7307873" y="376564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51" name="Text 46"/>
          <p:cNvSpPr/>
          <p:nvPr/>
        </p:nvSpPr>
        <p:spPr>
          <a:xfrm>
            <a:off x="8404412" y="376564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⚠️</a:t>
            </a:r>
            <a:endParaRPr lang="en-US" sz="1250" dirty="0"/>
          </a:p>
        </p:txBody>
      </p:sp>
      <p:sp>
        <p:nvSpPr>
          <p:cNvPr id="52" name="Text 47"/>
          <p:cNvSpPr/>
          <p:nvPr/>
        </p:nvSpPr>
        <p:spPr>
          <a:xfrm>
            <a:off x="9500950" y="3765649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10597488" y="3765649"/>
            <a:ext cx="138406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54" name="Text 49"/>
          <p:cNvSpPr/>
          <p:nvPr/>
        </p:nvSpPr>
        <p:spPr>
          <a:xfrm>
            <a:off x="5111622" y="4328021"/>
            <a:ext cx="774482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Salon B2B ERP</a:t>
            </a:r>
            <a:endParaRPr lang="en-US" sz="1250" dirty="0"/>
          </a:p>
        </p:txBody>
      </p:sp>
      <p:sp>
        <p:nvSpPr>
          <p:cNvPr id="55" name="Text 50"/>
          <p:cNvSpPr/>
          <p:nvPr/>
        </p:nvSpPr>
        <p:spPr>
          <a:xfrm>
            <a:off x="6211335" y="4328021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250" dirty="0"/>
          </a:p>
        </p:txBody>
      </p:sp>
      <p:sp>
        <p:nvSpPr>
          <p:cNvPr id="56" name="Text 51"/>
          <p:cNvSpPr/>
          <p:nvPr/>
        </p:nvSpPr>
        <p:spPr>
          <a:xfrm>
            <a:off x="7307873" y="4328021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57" name="Text 52"/>
          <p:cNvSpPr/>
          <p:nvPr/>
        </p:nvSpPr>
        <p:spPr>
          <a:xfrm>
            <a:off x="8404412" y="4328021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⚠️</a:t>
            </a:r>
            <a:endParaRPr lang="en-US" sz="1250" dirty="0"/>
          </a:p>
        </p:txBody>
      </p:sp>
      <p:sp>
        <p:nvSpPr>
          <p:cNvPr id="58" name="Text 53"/>
          <p:cNvSpPr/>
          <p:nvPr/>
        </p:nvSpPr>
        <p:spPr>
          <a:xfrm>
            <a:off x="9500950" y="4328021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59" name="Text 54"/>
          <p:cNvSpPr/>
          <p:nvPr/>
        </p:nvSpPr>
        <p:spPr>
          <a:xfrm>
            <a:off x="10597488" y="4328021"/>
            <a:ext cx="138406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60" name="Text 55"/>
          <p:cNvSpPr/>
          <p:nvPr/>
        </p:nvSpPr>
        <p:spPr>
          <a:xfrm>
            <a:off x="5111622" y="4890393"/>
            <a:ext cx="774482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Gamified Loyalty</a:t>
            </a:r>
            <a:endParaRPr lang="en-US" sz="1250" dirty="0"/>
          </a:p>
        </p:txBody>
      </p:sp>
      <p:sp>
        <p:nvSpPr>
          <p:cNvPr id="61" name="Text 56"/>
          <p:cNvSpPr/>
          <p:nvPr/>
        </p:nvSpPr>
        <p:spPr>
          <a:xfrm>
            <a:off x="6211335" y="4890393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250" dirty="0"/>
          </a:p>
        </p:txBody>
      </p:sp>
      <p:sp>
        <p:nvSpPr>
          <p:cNvPr id="62" name="Text 57"/>
          <p:cNvSpPr/>
          <p:nvPr/>
        </p:nvSpPr>
        <p:spPr>
          <a:xfrm>
            <a:off x="7307873" y="4890393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⚠️</a:t>
            </a:r>
            <a:endParaRPr lang="en-US" sz="1250" dirty="0"/>
          </a:p>
        </p:txBody>
      </p:sp>
      <p:sp>
        <p:nvSpPr>
          <p:cNvPr id="63" name="Text 58"/>
          <p:cNvSpPr/>
          <p:nvPr/>
        </p:nvSpPr>
        <p:spPr>
          <a:xfrm>
            <a:off x="8404412" y="4890393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  <p:sp>
        <p:nvSpPr>
          <p:cNvPr id="64" name="Text 59"/>
          <p:cNvSpPr/>
          <p:nvPr/>
        </p:nvSpPr>
        <p:spPr>
          <a:xfrm>
            <a:off x="9500950" y="4890393"/>
            <a:ext cx="138089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⚠️</a:t>
            </a:r>
            <a:endParaRPr lang="en-US" sz="1250" dirty="0"/>
          </a:p>
        </p:txBody>
      </p:sp>
      <p:sp>
        <p:nvSpPr>
          <p:cNvPr id="65" name="Text 60"/>
          <p:cNvSpPr/>
          <p:nvPr/>
        </p:nvSpPr>
        <p:spPr>
          <a:xfrm>
            <a:off x="10597488" y="4890393"/>
            <a:ext cx="1384067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Live Product &amp; Market Opportunity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21345"/>
            <a:ext cx="8127797" cy="3892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884738"/>
            <a:ext cx="1086874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Dual Market: Men &amp; Women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61475" y="5109170"/>
            <a:ext cx="10868745" cy="677466"/>
          </a:xfrm>
          <a:prstGeom prst="roundRect">
            <a:avLst>
              <a:gd name="adj" fmla="val 585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1475" y="5280124"/>
            <a:ext cx="1086874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5447903"/>
            <a:ext cx="1086874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5615682"/>
            <a:ext cx="1086874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3469" y="5150148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Segment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381390" y="5150148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Men's Grooming (22% CAGR)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999312" y="5150148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Women's Styling (High-AOV)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63469" y="5317927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Frequency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381390" y="5317927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18–24 visits/year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999312" y="5317927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₹1,500–₹8,000 AOV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3469" y="5485705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Categories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381390" y="5485705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Beard sculpting, fades, scalp treatments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999312" y="5485705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Hair spas, balayage, bridal styling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63469" y="5653484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CuraStyl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381390" y="5653484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21+ 3D male hairstyles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999312" y="5653484"/>
            <a:ext cx="4038598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16+ female 3D models, skin tone matching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61475" y="5863332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61475" y="5970488"/>
            <a:ext cx="1086874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1475" y="6242149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4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₹1.65L Cr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661475" y="6636643"/>
            <a:ext cx="358349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61475" y="6818511"/>
            <a:ext cx="358349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Indian Beauty Market by 2028 (18.2% CAGR)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304002" y="6242149"/>
            <a:ext cx="358359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4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₹65K Cr</a:t>
            </a:r>
            <a:endParaRPr lang="en-US" sz="2450" dirty="0"/>
          </a:p>
        </p:txBody>
      </p:sp>
      <p:sp>
        <p:nvSpPr>
          <p:cNvPr id="27" name="Text 24"/>
          <p:cNvSpPr/>
          <p:nvPr/>
        </p:nvSpPr>
        <p:spPr>
          <a:xfrm>
            <a:off x="4304002" y="6636643"/>
            <a:ext cx="358359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304002" y="6818511"/>
            <a:ext cx="358359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Organized Salon &amp; Parlor Services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946628" y="6242149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spc="-4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₹3,250 Cr</a:t>
            </a:r>
            <a:endParaRPr lang="en-US" sz="2450" dirty="0"/>
          </a:p>
        </p:txBody>
      </p:sp>
      <p:sp>
        <p:nvSpPr>
          <p:cNvPr id="30" name="Text 27"/>
          <p:cNvSpPr/>
          <p:nvPr/>
        </p:nvSpPr>
        <p:spPr>
          <a:xfrm>
            <a:off x="7946628" y="6636643"/>
            <a:ext cx="358349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946628" y="6818511"/>
            <a:ext cx="358349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5% share in Top 8 Metros within 4 years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902"/>
            <a:ext cx="10868745" cy="527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Model &amp; Unit Economics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22598"/>
            <a:ext cx="523623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Revenue Streams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394" y="1853654"/>
            <a:ext cx="243576" cy="2435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9305" y="1843584"/>
            <a:ext cx="470840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Marketplace Commission (8–12%)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89305" y="2247106"/>
            <a:ext cx="4708407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 confirmed booking — 0% on first 20 for onboarding incentive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94" y="2928789"/>
            <a:ext cx="243576" cy="2435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9305" y="2918718"/>
            <a:ext cx="470840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B2B SaaS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89305" y="3322241"/>
            <a:ext cx="470840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 (50 bookings/mo) | Pro ₹999/mo | Enterprise ₹2,499/mo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94" y="3807668"/>
            <a:ext cx="243576" cy="2435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9305" y="3797598"/>
            <a:ext cx="470840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Featured Listings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89305" y="4201120"/>
            <a:ext cx="470840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₹1,500–₹5,000/month per salon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394" y="4686548"/>
            <a:ext cx="243576" cy="2435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9305" y="4676477"/>
            <a:ext cx="470840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Pro Pass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89305" y="5080000"/>
            <a:ext cx="470840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₹199/month — unlimited AR exports, 2x GlamPoints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394" y="5565428"/>
            <a:ext cx="243576" cy="2435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9305" y="5555357"/>
            <a:ext cx="470840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GlamPoints &amp; Brand Partnerships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189305" y="5958880"/>
            <a:ext cx="470840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Point arbitrage + beauty sample distributions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300332" y="1422598"/>
            <a:ext cx="523623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Exceptional Unit Economics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6300332" y="1843584"/>
            <a:ext cx="5236238" cy="3220442"/>
          </a:xfrm>
          <a:prstGeom prst="roundRect">
            <a:avLst>
              <a:gd name="adj" fmla="val 211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306682" y="1849934"/>
            <a:ext cx="5223538" cy="3764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6306682" y="1849934"/>
            <a:ext cx="2611769" cy="376436"/>
          </a:xfrm>
          <a:custGeom>
            <a:avLst/>
            <a:gdLst/>
            <a:ahLst/>
            <a:cxnLst/>
            <a:rect l="l" t="t" r="r" b="b"/>
            <a:pathLst>
              <a:path w="2611769" h="376436">
                <a:moveTo>
                  <a:pt x="56853" y="0"/>
                </a:moveTo>
                <a:lnTo>
                  <a:pt x="2611769" y="0"/>
                </a:lnTo>
                <a:lnTo>
                  <a:pt x="2611769" y="376436"/>
                </a:lnTo>
                <a:lnTo>
                  <a:pt x="0" y="376436"/>
                </a:lnTo>
                <a:lnTo>
                  <a:pt x="0" y="56855"/>
                </a:lnTo>
                <a:arcTo hR="56855" wR="56853" stAng="10800000" swAng="5400000"/>
                <a:close/>
              </a:path>
            </a:pathLst>
          </a:custGeom>
          <a:solidFill>
            <a:srgbClr val="E91E8C"/>
          </a:solidFill>
          <a:ln/>
        </p:spPr>
      </p:sp>
      <p:sp>
        <p:nvSpPr>
          <p:cNvPr id="23" name="Text 16"/>
          <p:cNvSpPr/>
          <p:nvPr/>
        </p:nvSpPr>
        <p:spPr>
          <a:xfrm>
            <a:off x="6469099" y="1940024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Metric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918451" y="1849934"/>
            <a:ext cx="2611769" cy="376436"/>
          </a:xfrm>
          <a:custGeom>
            <a:avLst/>
            <a:gdLst/>
            <a:ahLst/>
            <a:cxnLst/>
            <a:rect l="l" t="t" r="r" b="b"/>
            <a:pathLst>
              <a:path w="2611769" h="376436">
                <a:moveTo>
                  <a:pt x="0" y="0"/>
                </a:moveTo>
                <a:lnTo>
                  <a:pt x="2554916" y="0"/>
                </a:lnTo>
                <a:arcTo hR="56855" wR="56853" stAng="16200000" swAng="5400000"/>
                <a:lnTo>
                  <a:pt x="2611769" y="376436"/>
                </a:lnTo>
                <a:lnTo>
                  <a:pt x="0" y="376436"/>
                </a:lnTo>
                <a:lnTo>
                  <a:pt x="0" y="0"/>
                </a:lnTo>
                <a:close/>
              </a:path>
            </a:pathLst>
          </a:custGeom>
          <a:solidFill>
            <a:srgbClr val="E91E8C"/>
          </a:solidFill>
          <a:ln/>
        </p:spPr>
      </p:sp>
      <p:sp>
        <p:nvSpPr>
          <p:cNvPr id="25" name="Text 18"/>
          <p:cNvSpPr/>
          <p:nvPr/>
        </p:nvSpPr>
        <p:spPr>
          <a:xfrm>
            <a:off x="9084043" y="1940024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Value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306682" y="2226370"/>
            <a:ext cx="5223538" cy="3764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6469099" y="2316460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Order Value (AOV)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084043" y="2316460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₹850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306682" y="2602805"/>
            <a:ext cx="5223538" cy="5726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6469099" y="2692896"/>
            <a:ext cx="2283760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Acquisition Cost (CAC)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084043" y="2692896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₹180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306682" y="3175496"/>
            <a:ext cx="5223538" cy="3764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469099" y="3265587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Annual Customer GMV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084043" y="3265587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₹7,225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306682" y="3551932"/>
            <a:ext cx="5223538" cy="3764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6469099" y="3642023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3-Year LTV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084043" y="3642023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₹2,167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306682" y="3928368"/>
            <a:ext cx="5223538" cy="3764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6469099" y="4018459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LTV/CAC Ratio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9084043" y="4018459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91E8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12.0x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6306682" y="4304804"/>
            <a:ext cx="5223538" cy="3764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6469099" y="4394895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CAC Payback Period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9084043" y="4394895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91E8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2.8 months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6306682" y="4681240"/>
            <a:ext cx="5223538" cy="3764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38"/>
          <p:cNvSpPr/>
          <p:nvPr/>
        </p:nvSpPr>
        <p:spPr>
          <a:xfrm>
            <a:off x="6469099" y="4771330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Gross Margin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9084043" y="4771330"/>
            <a:ext cx="2893345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E91E8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78%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928"/>
            <a:ext cx="10868745" cy="547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5-Year Growth &amp; Go-To-Market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74948"/>
            <a:ext cx="10868745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Projections (FY26–FY30)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1673324"/>
            <a:ext cx="10868745" cy="2034877"/>
          </a:xfrm>
          <a:prstGeom prst="roundRect">
            <a:avLst>
              <a:gd name="adj" fmla="val 347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082205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487910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893616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299321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39272" y="1673324"/>
            <a:ext cx="10522" cy="20348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0422" y="1673324"/>
            <a:ext cx="10522" cy="20348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81571" y="1673324"/>
            <a:ext cx="10522" cy="20348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52721" y="1673324"/>
            <a:ext cx="10522" cy="203487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8122" y="1679674"/>
            <a:ext cx="2171150" cy="402530"/>
          </a:xfrm>
          <a:custGeom>
            <a:avLst/>
            <a:gdLst/>
            <a:ahLst/>
            <a:cxnLst/>
            <a:rect l="l" t="t" r="r" b="b"/>
            <a:pathLst>
              <a:path w="2171150" h="402530">
                <a:moveTo>
                  <a:pt x="58921" y="0"/>
                </a:moveTo>
                <a:lnTo>
                  <a:pt x="2171150" y="0"/>
                </a:lnTo>
                <a:lnTo>
                  <a:pt x="2171150" y="402530"/>
                </a:lnTo>
                <a:lnTo>
                  <a:pt x="0" y="402530"/>
                </a:lnTo>
                <a:lnTo>
                  <a:pt x="0" y="58922"/>
                </a:lnTo>
                <a:arcTo hR="58922" wR="58921" stAng="10800000" swAng="5400000"/>
                <a:close/>
              </a:path>
            </a:pathLst>
          </a:cu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836393" y="1775916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Metric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9272" y="1679674"/>
            <a:ext cx="2171150" cy="40253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0718" y="1775916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FY26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10422" y="1679674"/>
            <a:ext cx="2171150" cy="40253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8" name="Text 16"/>
          <p:cNvSpPr/>
          <p:nvPr/>
        </p:nvSpPr>
        <p:spPr>
          <a:xfrm>
            <a:off x="5181867" y="1775916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FY27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81571" y="1679674"/>
            <a:ext cx="2171150" cy="40253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0" name="Text 18"/>
          <p:cNvSpPr/>
          <p:nvPr/>
        </p:nvSpPr>
        <p:spPr>
          <a:xfrm>
            <a:off x="7353017" y="1775916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FY28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52721" y="1679674"/>
            <a:ext cx="2171150" cy="402530"/>
          </a:xfrm>
          <a:custGeom>
            <a:avLst/>
            <a:gdLst/>
            <a:ahLst/>
            <a:cxnLst/>
            <a:rect l="l" t="t" r="r" b="b"/>
            <a:pathLst>
              <a:path w="2171150" h="402530">
                <a:moveTo>
                  <a:pt x="0" y="0"/>
                </a:moveTo>
                <a:lnTo>
                  <a:pt x="2112229" y="0"/>
                </a:lnTo>
                <a:arcTo hR="58922" wR="58921" stAng="16200000" swAng="5400000"/>
                <a:lnTo>
                  <a:pt x="2171150" y="402530"/>
                </a:lnTo>
                <a:lnTo>
                  <a:pt x="0" y="402530"/>
                </a:lnTo>
                <a:lnTo>
                  <a:pt x="0" y="0"/>
                </a:lnTo>
                <a:close/>
              </a:path>
            </a:pathLst>
          </a:custGeom>
          <a:solidFill>
            <a:srgbClr val="E91E8C"/>
          </a:solidFill>
          <a:ln/>
        </p:spPr>
      </p:sp>
      <p:sp>
        <p:nvSpPr>
          <p:cNvPr id="22" name="Text 20"/>
          <p:cNvSpPr/>
          <p:nvPr/>
        </p:nvSpPr>
        <p:spPr>
          <a:xfrm>
            <a:off x="9524166" y="1775916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FY30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393" y="2181622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Onboarded Salons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0718" y="2181622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81867" y="2181622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1,800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53017" y="2181622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6,500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24166" y="2181622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25,000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393" y="2587327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Active Customers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0718" y="2587327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45K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81867" y="2587327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280K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53017" y="2587327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1.1M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24166" y="2587327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4.8M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393" y="2993033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Gross Platform GMV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10718" y="2993033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₹15.3 Cr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81867" y="2993033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₹119 Cr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53017" y="2993033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₹527 Cr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24166" y="2993033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₹2,720 Cr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6393" y="3398738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Net Revenue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0718" y="3398738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₹1.53 Cr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1867" y="3398738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₹13.1 Cr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53017" y="3398738"/>
            <a:ext cx="243784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₹61.5 Cr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524166" y="3398738"/>
            <a:ext cx="244101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₹142 Cr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1475" y="3933031"/>
            <a:ext cx="10868745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3-Phase GTM Strategy</a:t>
            </a:r>
            <a:endParaRPr lang="en-US" sz="16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431407"/>
            <a:ext cx="3622882" cy="67329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29746" y="5254625"/>
            <a:ext cx="3286340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1 — Months 1–6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829746" y="5618063"/>
            <a:ext cx="3286340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Mumbai beachhead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200 salons · 30K bookings · ₹2.5 Cr GMV</a:t>
            </a:r>
            <a:endParaRPr lang="en-US" sz="1300" dirty="0"/>
          </a:p>
        </p:txBody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4431407"/>
            <a:ext cx="3622882" cy="67329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4452628" y="5254625"/>
            <a:ext cx="3286340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2 — Months 7–18</a:t>
            </a:r>
            <a:endParaRPr lang="en-US" sz="1650" dirty="0"/>
          </a:p>
        </p:txBody>
      </p:sp>
      <p:sp>
        <p:nvSpPr>
          <p:cNvPr id="49" name="Text 45"/>
          <p:cNvSpPr/>
          <p:nvPr/>
        </p:nvSpPr>
        <p:spPr>
          <a:xfrm>
            <a:off x="4452628" y="5618063"/>
            <a:ext cx="3286340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Tier 1 metros: Bengaluru, Delhi-NCR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1,500 salons · ₹40 Cr GMV</a:t>
            </a:r>
            <a:endParaRPr lang="en-US" sz="130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4431407"/>
            <a:ext cx="3622882" cy="67329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8075510" y="5254625"/>
            <a:ext cx="3286340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3 — Months 19–36</a:t>
            </a:r>
            <a:endParaRPr lang="en-US" sz="1650" dirty="0"/>
          </a:p>
        </p:txBody>
      </p:sp>
      <p:sp>
        <p:nvSpPr>
          <p:cNvPr id="52" name="Text 47"/>
          <p:cNvSpPr/>
          <p:nvPr/>
        </p:nvSpPr>
        <p:spPr>
          <a:xfrm>
            <a:off x="8075510" y="5618063"/>
            <a:ext cx="3286340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Pan-India scale</a:t>
            </a:r>
            <a:endParaRPr lang="en-US" sz="1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10,000+ salons · ₹250+ Cr GMV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45405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b="1" spc="-6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Technology &amp; Team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33360" y="1378049"/>
            <a:ext cx="295753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Full-Stack Architecture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233360" y="1778099"/>
            <a:ext cx="2957538" cy="1106984"/>
          </a:xfrm>
          <a:prstGeom prst="roundRect">
            <a:avLst>
              <a:gd name="adj" fmla="val 593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8874" y="1953617"/>
            <a:ext cx="260651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 &amp; WebAR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08874" y="2337495"/>
            <a:ext cx="26065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Next.js 15, React 19, Three.js, MediaPipe FaceMesh, Tailwind CSS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360" y="3014663"/>
            <a:ext cx="2957538" cy="1106984"/>
          </a:xfrm>
          <a:prstGeom prst="roundRect">
            <a:avLst>
              <a:gd name="adj" fmla="val 593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8874" y="3190180"/>
            <a:ext cx="260651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Core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08874" y="3574058"/>
            <a:ext cx="26065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1.5 Pro/Flash, 10-key failover (99.99% uptime), Style DNA profiler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3360" y="4251226"/>
            <a:ext cx="2957538" cy="1293019"/>
          </a:xfrm>
          <a:prstGeom prst="roundRect">
            <a:avLst>
              <a:gd name="adj" fmla="val 5084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8874" y="4426744"/>
            <a:ext cx="260651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 &amp; Security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08874" y="4810621"/>
            <a:ext cx="260651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Supabase PostgreSQL, Row-Level Security, Role-Based Middleware, Razorpay gateway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79032" y="1378049"/>
            <a:ext cx="295753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AgniDev's — FRCRCE, Mumbai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60727" y="2081312"/>
            <a:ext cx="24758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Shreyas Mahajan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60727" y="2465189"/>
            <a:ext cx="247584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Full-Stack &amp; 3D WebAR Lead — Three.js, MediaPipe, React 19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60727" y="3145433"/>
            <a:ext cx="24758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Arnav Brahmane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060727" y="3529310"/>
            <a:ext cx="247584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Architect &amp; Multimodal LLM Lead — Gemini 1.5, Style DNA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060727" y="4209554"/>
            <a:ext cx="24758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Akshat Churi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060727" y="4593431"/>
            <a:ext cx="247584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Product, Growth &amp; Business Operations — GTM, unit economics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79032" y="5297289"/>
            <a:ext cx="2957538" cy="869454"/>
          </a:xfrm>
          <a:prstGeom prst="roundRect">
            <a:avLst>
              <a:gd name="adj" fmla="val 7561"/>
            </a:avLst>
          </a:prstGeom>
          <a:solidFill>
            <a:srgbClr val="183A1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496" y="5475089"/>
            <a:ext cx="195654" cy="1564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087615" y="5452963"/>
            <a:ext cx="229249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Execution Velocity: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Built and deployed entire platform with </a:t>
            </a:r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zero external funding.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041"/>
            <a:ext cx="10868745" cy="47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spc="-5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Ask &amp; Why CuraStyl Wins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298" y="1215628"/>
            <a:ext cx="5466221" cy="5063232"/>
          </a:xfrm>
          <a:prstGeom prst="roundRect">
            <a:avLst>
              <a:gd name="adj" fmla="val 2058"/>
            </a:avLst>
          </a:prstGeom>
          <a:solidFill>
            <a:srgbClr val="E91E8C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1955" y="1326356"/>
            <a:ext cx="517690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Seeking: ₹50 Lakhs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1955" y="1672134"/>
            <a:ext cx="578649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18-Month Runway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1955" y="1962845"/>
            <a:ext cx="289414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1955" y="2196902"/>
            <a:ext cx="5176906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8" name="Text 6"/>
          <p:cNvSpPr/>
          <p:nvPr/>
        </p:nvSpPr>
        <p:spPr>
          <a:xfrm>
            <a:off x="701955" y="2307332"/>
            <a:ext cx="517690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40% — ₹20L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1955" y="2653109"/>
            <a:ext cx="51769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Salon Merchant Acquisition &amp; On-ground BD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1955" y="3038376"/>
            <a:ext cx="289414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955" y="3258046"/>
            <a:ext cx="5176906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1955" y="3382863"/>
            <a:ext cx="517690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30% — ₹15L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1955" y="3728641"/>
            <a:ext cx="51769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&amp; 3D Engineering (hairstyle library expansion)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1955" y="4113907"/>
            <a:ext cx="289414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1955" y="4319091"/>
            <a:ext cx="5176906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1955" y="4458395"/>
            <a:ext cx="517690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20% — ₹10L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1955" y="4804172"/>
            <a:ext cx="51769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Campus Marketing &amp; Instagram AR Campaigns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1955" y="5189438"/>
            <a:ext cx="289414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955" y="5380236"/>
            <a:ext cx="5176906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1955" y="5533926"/>
            <a:ext cx="517690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10% — ₹5L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1955" y="5879703"/>
            <a:ext cx="51769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 Infrastructure &amp; Operations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8703" y="1326356"/>
            <a:ext cx="5257867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Competitive Moat — Why CuraStyl Wins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8703" y="1672134"/>
            <a:ext cx="5257867" cy="2058591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Only platform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complete visual-to-chair workflow (AI → 3D try-on → booking → salon SaaS)</a:t>
            </a:r>
            <a:endParaRPr lang="en-US" sz="1100" dirty="0"/>
          </a:p>
          <a:p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Proprietary 3D WebAR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468-point facial tracking @ 60 FPS — zero competitors in India</a:t>
            </a:r>
            <a:endParaRPr lang="en-US" sz="1100" dirty="0"/>
          </a:p>
          <a:p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Dual-sided network: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Solves customer anxiety AND salon profitability simultaneously</a:t>
            </a:r>
            <a:endParaRPr lang="en-US" sz="1100" dirty="0"/>
          </a:p>
          <a:p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Proven execution: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Live product with real users, real bookings, real revenue</a:t>
            </a:r>
            <a:endParaRPr lang="en-US" sz="1100" dirty="0"/>
          </a:p>
          <a:p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Exceptional unit economics: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12x LTV/CAC, 2.8-month payback, 78% gross margin</a:t>
            </a:r>
            <a:endParaRPr lang="en-US" sz="1100" dirty="0"/>
          </a:p>
          <a:p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Massive TAM:</a:t>
            </a:r>
            <a:pPr algn="l" marL="223520" indent="-223520">
              <a:lnSpc>
                <a:spcPct val="96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₹1.65 Lakh Crore market with only 5% digital penetration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8703" y="3949204"/>
            <a:ext cx="5257867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78703" y="4071243"/>
            <a:ext cx="5257867" cy="71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🌐</a:t>
            </a:r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Live Demo:</a:t>
            </a:r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https://curastyl.agnidev.me</a:t>
            </a:r>
            <a:endParaRPr lang="en-US" sz="1100" dirty="0"/>
          </a:p>
          <a:p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📧</a:t>
            </a:r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Contact:</a:t>
            </a:r>
            <a:pPr algn="l" indent="0" marL="0">
              <a:lnSpc>
                <a:spcPct val="96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founders@curastyl.agnidev.me</a:t>
            </a:r>
            <a:endParaRPr lang="en-US" sz="11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📍</a:t>
            </a:r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BKC, Mumbai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2026-08-21T16:01:38Z</dcterms:created>
  <dcterms:modified xsi:type="dcterms:W3CDTF">2026-08-21T16:01:38Z</dcterms:modified>
</cp:coreProperties>
</file>