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640080"/>
            <a:ext cx="4754880" cy="384048"/>
          </a:xfrm>
          <a:prstGeom prst="roundRect">
            <a:avLst/>
          </a:prstGeom>
          <a:solidFill>
            <a:srgbClr val="121626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BBF24"/>
                </a:solidFill>
              </a:defRPr>
            </a:pPr>
            <a:r>
              <a:t>🏆 PITCHX 2026 | JIO WORLD CENTRE, BKC MUMBAI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6858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CuraStyl 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148840"/>
            <a:ext cx="685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06B6D4"/>
                </a:solidFill>
              </a:defRPr>
            </a:pPr>
            <a:r>
              <a:t>India’s 1st AI-Enabled Hyperlocal Salon Marketplace &amp; 3D WebAR Virtual Try-On Super-App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54680"/>
            <a:ext cx="6675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50">
                <a:solidFill>
                  <a:srgbClr val="A5AFC3"/>
                </a:solidFill>
              </a:defRPr>
            </a:pPr>
            <a:r>
              <a:t>Solving post-haircut regret and salon idle capacity for Men &amp; Women using real-time browser 3D camera try-on, Gemini 1.5 multimodal AI consultation, instant slot booking, and salon SaaS.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297680"/>
            <a:ext cx="6583680" cy="2011680"/>
          </a:xfrm>
          <a:prstGeom prst="roundRect">
            <a:avLst/>
          </a:prstGeom>
          <a:solidFill>
            <a:srgbClr val="121626"/>
          </a:solidFill>
          <a:ln>
            <a:solidFill>
              <a:srgbClr val="28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A855F7"/>
                </a:solidFill>
              </a:defRPr>
            </a:pPr>
            <a:r>
              <a:t>Presented by Team AgniDev’s (FRCRCE):</a:t>
            </a:r>
          </a:p>
          <a:p>
            <a:pPr>
              <a:spcAft>
                <a:spcPts val="600"/>
              </a:spcAft>
              <a:defRPr sz="1000">
                <a:solidFill>
                  <a:srgbClr val="FFFFFF"/>
                </a:solidFill>
              </a:defRPr>
            </a:pPr>
            <a:r>
              <a:t>👨‍💻 Shreyas Mahajan (Tech Lead &amp; WebAR 3D)  |  🧠 Arnav Brahmane (AI &amp; Gemini Architect)  |  📈 Akshat Churi (Product &amp; Growth)</a:t>
            </a:r>
          </a:p>
          <a:p>
            <a:pPr>
              <a:defRPr sz="1100" b="1">
                <a:solidFill>
                  <a:srgbClr val="22C55E"/>
                </a:solidFill>
              </a:defRPr>
            </a:pPr>
            <a:r>
              <a:t>🌐 Live Deployed Platform: https://curastyl.agnidev.me  (100% Functional MVP Ready for Demo)</a:t>
            </a:r>
          </a:p>
        </p:txBody>
      </p:sp>
      <p:pic>
        <p:nvPicPr>
          <p:cNvPr id="8" name="Picture 7" descr="landing_page_17873014119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914400"/>
            <a:ext cx="393192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The Three Major Breakdowns in India’s Salon &amp; Grooming Industry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5AFC3"/>
                </a:solidFill>
              </a:defRPr>
            </a:pPr>
            <a:r>
              <a:t>Customers face blind styling anxiety, while neighborhood salons suffer from idle chairs and zero digital tools.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121626"/>
          </a:solidFill>
          <a:ln w="15240">
            <a:solidFill>
              <a:srgbClr val="28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3200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EF4444"/>
                </a:solidFill>
              </a:defRPr>
            </a:pPr>
            <a:r>
              <a:t>1. Post-Haircut Regret (82% Anxiety)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82% of young Indians experience anxiety before visiting a salon.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No tool exists to pre-visualize hairstyles on their actual 3D face structure &amp; skin tone.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Customer references (Pinterest/Celebrities) fail in execution, causing disappointment.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121626"/>
          </a:solidFill>
          <a:ln w="15240">
            <a:solidFill>
              <a:srgbClr val="28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3200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EF4444"/>
                </a:solidFill>
              </a:defRPr>
            </a:pPr>
            <a:r>
              <a:t>2. 42% Salon Idle Capacity &amp; No-Shows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Local salons run at only 58% average chair occupancy on weekdays.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18% to 25% appointment no-shows because bookings are unconfirmed over phone.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High-skill neighborhood barbers have zero digital reach and struggle to compete with luxury chains.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121626"/>
          </a:solidFill>
          <a:ln w="15240">
            <a:solidFill>
              <a:srgbClr val="28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783080"/>
            <a:ext cx="3200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EF4444"/>
                </a:solidFill>
              </a:defRPr>
            </a:pPr>
            <a:r>
              <a:t>3. Disjointed &amp; Inefficient Booking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Listing platforms (Google Maps/JustDial) only provide static phone numbers with zero live scheduling.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Salon owners manage operations on paper diaries and WhatsApp messages.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No unified loyalty rewards or personalized AI consultation for customers.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THE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CuraStyl’s Triple-Engine Beauty-Tech Ecosystem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5AFC3"/>
                </a:solidFill>
              </a:defRPr>
            </a:pPr>
            <a:r>
              <a:t>A synchronized double-sided platform connecting smart visual discovery with instant booking &amp; salon SaaS.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191F34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3200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A855F7"/>
                </a:solidFill>
              </a:defRPr>
            </a:pPr>
            <a:r>
              <a:t>✨ Engine 1: AuraAI Consultation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Powered by Google Gemini 1.5 with 10-key automatic rotation.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Analyzes facial structure, skin tone, hair texture, and style vibe.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Fetches live visual inspiration carousels via Pexels &amp; Google CSE.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Contextual deep-linking directly into Try-On &amp; appointment booking.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191F34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3200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06B6D4"/>
                </a:solidFill>
              </a:defRPr>
            </a:pPr>
            <a:r>
              <a:t>👓 Engine 2: 3D WebAR Virtual Try-On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Real-time webcam face mapping via MediaPipe 468 3D landmarks.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Three.js &amp; React Three Fiber dynamic 3D hairstyle projection (.glb).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Zero app installation required—runs smoothly inside any mobile browser.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Separate, highly curated catalogs for Men &amp; Women.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191F34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783080"/>
            <a:ext cx="3200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EC4899"/>
                </a:solidFill>
              </a:defRPr>
            </a:pPr>
            <a:r>
              <a:t>🏪 Engine 3: Hyperlocal Booking &amp; SaaS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Geolocation discovery covering Bandra, BKC, Andheri, Powai, Juhu.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Real-time slot reservation preventing double-bookings with QR check-in.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GlamPoints gamified loyalty economy (earn on visit, burn at checkout).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Salon Owner ERP: live scheduler, staff assignment, revenue &amp; reviews.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Enterprise-Grade Full-Stack &amp; Browser AI/AR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5AFC3"/>
                </a:solidFill>
              </a:defRPr>
            </a:pPr>
            <a:r>
              <a:t>Lightweight client-side processing, high security, and high reliability built by student engineers.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121626"/>
          </a:solidFill>
          <a:ln w="15240">
            <a:solidFill>
              <a:srgbClr val="28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3200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06B6D4"/>
                </a:solidFill>
              </a:defRPr>
            </a:pPr>
            <a:r>
              <a:t>Client &amp; WebAR 3D Engine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Next.js 15 &amp; React 19 for server rendering &amp; instantaneous transitions.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MediaPipe FaceMesh: 468 3D landmarks at 60 FPS in browser.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Three.js / React Three Fiber: Dynamic mesh scaling, lighting &amp; .glb models.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Tailwind CSS &amp; Framer Motion for responsive glassmorphism 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121626"/>
          </a:solidFill>
          <a:ln w="15240">
            <a:solidFill>
              <a:srgbClr val="28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3200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A855F7"/>
                </a:solidFill>
              </a:defRPr>
            </a:pPr>
            <a:r>
              <a:t>Multimodal AI Core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Google Gemini 1.5 Pro &amp; Flash multimodal intelligence.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10-Key Auto-Rotation failover system ensuring 99.99% uptime.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Style DNA Profiling with facial mood &amp; feature extraction.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Visual Search Integration with Pexels API &amp; Google CSE.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121626"/>
          </a:solidFill>
          <a:ln w="15240">
            <a:solidFill>
              <a:srgbClr val="28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783080"/>
            <a:ext cx="3200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22C55E"/>
                </a:solidFill>
              </a:defRPr>
            </a:pPr>
            <a:r>
              <a:t>Backend, Database &amp; Security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Supabase PostgreSQL with strict Row-Level Security (RLS).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Role-Based Middleware protecting customer vs salon-owner paths.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Unified Payments: Direct UPI simulator &amp; Razorpay integration.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QR Verification Engine &amp; Automated booking reminder cron jobs.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PRODUCT DEMO &amp;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100% Built &amp; Live Production Features (Men &amp; Women)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5AFC3"/>
                </a:solidFill>
              </a:defRPr>
            </a:pPr>
            <a:r>
              <a:t>Live platform accessible on mobile &amp; desktop: https://curastyl.agnidev.me</a:t>
            </a:r>
          </a:p>
        </p:txBody>
      </p:sp>
      <p:pic>
        <p:nvPicPr>
          <p:cNvPr id="6" name="Picture 5" descr="salons_page_1787301443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3383280" cy="21945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520" y="3520440"/>
            <a:ext cx="3383280" cy="320040"/>
          </a:xfrm>
          <a:prstGeom prst="rect">
            <a:avLst/>
          </a:prstGeom>
          <a:solidFill>
            <a:srgbClr val="0A0C16"/>
          </a:solidFill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1. Hyperlocal Discovery &amp; Filters</a:t>
            </a:r>
          </a:p>
        </p:txBody>
      </p:sp>
      <p:pic>
        <p:nvPicPr>
          <p:cNvPr id="8" name="Picture 7" descr="ai_assistant_page_178730199546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645920"/>
            <a:ext cx="3383280" cy="2194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389120" y="3520440"/>
            <a:ext cx="3383280" cy="320040"/>
          </a:xfrm>
          <a:prstGeom prst="rect">
            <a:avLst/>
          </a:prstGeom>
          <a:solidFill>
            <a:srgbClr val="0A0C16"/>
          </a:solidFill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2. AuraAI Chat &amp; Visual Carousels</a:t>
            </a:r>
          </a:p>
        </p:txBody>
      </p:sp>
      <p:pic>
        <p:nvPicPr>
          <p:cNvPr id="10" name="Picture 9" descr="virtual_tryon_women_page_178730210492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645920"/>
            <a:ext cx="3383280" cy="21945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046720" y="3520440"/>
            <a:ext cx="3383280" cy="320040"/>
          </a:xfrm>
          <a:prstGeom prst="rect">
            <a:avLst/>
          </a:prstGeom>
          <a:solidFill>
            <a:srgbClr val="0A0C16"/>
          </a:solidFill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3. Real-Time 3D WebAR Mirror</a:t>
            </a:r>
          </a:p>
        </p:txBody>
      </p:sp>
      <p:pic>
        <p:nvPicPr>
          <p:cNvPr id="12" name="Picture 11" descr="offers_page_178730215021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114800"/>
            <a:ext cx="3383280" cy="219456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5989320"/>
            <a:ext cx="3383280" cy="320040"/>
          </a:xfrm>
          <a:prstGeom prst="rect">
            <a:avLst/>
          </a:prstGeom>
          <a:solidFill>
            <a:srgbClr val="0A0C16"/>
          </a:solidFill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4. Offers, Deals &amp; Promotions</a:t>
            </a:r>
          </a:p>
        </p:txBody>
      </p:sp>
      <p:pic>
        <p:nvPicPr>
          <p:cNvPr id="14" name="Picture 13" descr="upgrade_page_178730219976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89120" y="4114800"/>
            <a:ext cx="3383280" cy="2194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4389120" y="5989320"/>
            <a:ext cx="3383280" cy="320040"/>
          </a:xfrm>
          <a:prstGeom prst="rect">
            <a:avLst/>
          </a:prstGeom>
          <a:solidFill>
            <a:srgbClr val="0A0C16"/>
          </a:solidFill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5. Salon SaaS &amp; Customer Plans</a:t>
            </a:r>
          </a:p>
        </p:txBody>
      </p:sp>
      <p:pic>
        <p:nvPicPr>
          <p:cNvPr id="16" name="Picture 15" descr="virtual_tryon_intro_page_1787302041432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4114800"/>
            <a:ext cx="3383280" cy="219456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8046720" y="5989320"/>
            <a:ext cx="3383280" cy="320040"/>
          </a:xfrm>
          <a:prstGeom prst="rect">
            <a:avLst/>
          </a:prstGeom>
          <a:solidFill>
            <a:srgbClr val="0A0C16"/>
          </a:solidFill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</a:defRPr>
            </a:pPr>
            <a:r>
              <a:t>6. Gender Selection Hub (Men/Women)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TARGET AUDIENCE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Serving Both Men &amp; Women with Tailored User Journeys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5AFC3"/>
                </a:solidFill>
              </a:defRPr>
            </a:pPr>
            <a:r>
              <a:t>Unlocking India’s fast-growing male grooming market and high-ticket women’s beauty services.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21626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06B6D4"/>
                </a:solidFill>
              </a:defRPr>
            </a:pPr>
            <a:r>
              <a:t>👨 Men’s Grooming Journey (Booming 22% CAGR)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High Visit Frequency: Men visit salons every 2-3 weeks (18-24 visits per year).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Expanding Basket Size: Beard styling, fades, scalp care, detan &amp; men’s facials.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Virtual Try-On: 21+ real-time 3D male hairstyles &amp; beard styles via browser webcam.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Frictionless UPI Booking: Instant 30-second slot lock with zero waiting time.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AuraAI Barber Consultation: Recommends cuts based on jawline, face shape &amp; workplace style.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21626"/>
          </a:solidFill>
          <a:ln w="1524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EC4899"/>
                </a:solidFill>
              </a:defRPr>
            </a:pPr>
            <a:r>
              <a:t>👩 Women’s Beauty &amp; Styling (High-AOV Luxury)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High Average Order Value: Hair spas, balayage, smoothening, bridal styling (₹1,500 - ₹8,000 AOV).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Visual Criticality: 16+ curated female 3D hair models (.glb) eliminate post-cut regret.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AuraAI Style DNA: Skin tone &amp; mood analysis suggesting complementary color tones &amp; highlights.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Verified Reviews &amp; Portfolios: Real stylist ratings, photo showcases &amp; hygiene verification.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GlamPoints Rewards: Earn significant reward points on high-value treatments for future discounts.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MARKET OPPORTUNITY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Tapping India’s ₹1.65 Lakh Cr ($20B) Beauty &amp; Wellness Boom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5AFC3"/>
                </a:solidFill>
              </a:defRPr>
            </a:pPr>
            <a:r>
              <a:t>Massive unorganized market rapidly digitizing with 18.2% annual growth in salon bookings.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1371600"/>
          </a:xfrm>
          <a:prstGeom prst="roundRect">
            <a:avLst/>
          </a:prstGeom>
          <a:solidFill>
            <a:srgbClr val="121626"/>
          </a:solidFill>
          <a:ln>
            <a:solidFill>
              <a:srgbClr val="28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A855F7"/>
                </a:solidFill>
              </a:defRPr>
            </a:pPr>
            <a:r>
              <a:t>₹1,65,000 Cr ($20B)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TAM: Total Addressable Market</a:t>
            </a:r>
          </a:p>
          <a:p>
            <a:pPr>
              <a:defRPr sz="950">
                <a:solidFill>
                  <a:srgbClr val="A5AFC3"/>
                </a:solidFill>
              </a:defRPr>
            </a:pPr>
            <a:r>
              <a:t>Overall Indian Beauty, Grooming &amp; Personal Care Market by 2028 (18.2% CAGR)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200400"/>
            <a:ext cx="5120640" cy="1371600"/>
          </a:xfrm>
          <a:prstGeom prst="roundRect">
            <a:avLst/>
          </a:prstGeom>
          <a:solidFill>
            <a:srgbClr val="121626"/>
          </a:solidFill>
          <a:ln>
            <a:solidFill>
              <a:srgbClr val="28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6B6D4"/>
                </a:solidFill>
              </a:defRPr>
            </a:pPr>
            <a:r>
              <a:t>₹65,000 Cr ($7.8B)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SAM: Serviceable Addressable Market</a:t>
            </a:r>
          </a:p>
          <a:p>
            <a:pPr>
              <a:defRPr sz="950">
                <a:solidFill>
                  <a:srgbClr val="A5AFC3"/>
                </a:solidFill>
              </a:defRPr>
            </a:pPr>
            <a:r>
              <a:t>Organized and Semi-Organized Salon &amp; Parlor Services across Urban India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754880"/>
            <a:ext cx="5120640" cy="1371600"/>
          </a:xfrm>
          <a:prstGeom prst="roundRect">
            <a:avLst/>
          </a:prstGeom>
          <a:solidFill>
            <a:srgbClr val="121626"/>
          </a:solidFill>
          <a:ln>
            <a:solidFill>
              <a:srgbClr val="28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2C55E"/>
                </a:solidFill>
              </a:defRPr>
            </a:pPr>
            <a:r>
              <a:t>₹3,250 Cr ($390M)</a:t>
            </a:r>
          </a:p>
          <a:p>
            <a:pPr>
              <a:defRPr sz="1100" b="1">
                <a:solidFill>
                  <a:srgbClr val="FFFFFF"/>
                </a:solidFill>
              </a:defRPr>
            </a:pPr>
            <a:r>
              <a:t>SOM: Serviceable Obtainable Market</a:t>
            </a:r>
          </a:p>
          <a:p>
            <a:pPr>
              <a:defRPr sz="950">
                <a:solidFill>
                  <a:srgbClr val="A5AFC3"/>
                </a:solidFill>
              </a:defRPr>
            </a:pPr>
            <a:r>
              <a:t>Target 5% market share in Top 8 Metros (Mumbai, Delhi-NCR, Bengaluru, etc.) within 4 years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91F34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A855F7"/>
                </a:solidFill>
              </a:defRPr>
            </a:pPr>
            <a:r>
              <a:t>Key Growth Drivers in India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Gen Z &amp; Millennial Grooming Surge: 65% of salon spend driven by 18–35 age cohort seeking trendy styles.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Male Grooming Explosion: Men’s grooming in India growing at 22%+ CAGR, demanding specialized beard and hair styling.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Shift from Walk-Ins to Instant Booking: 74% of smartphone users prefer online slot locking over waiting in lines.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SaaS Adoption by Local Salons: Salon owners eager for tools to reduce no-shows and increase weekday table turnover.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AI/AR Personalization as Conversion Driver: 3D Try-On increases service booking conversion by +38%.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Why CuraStyl Dominates Generic Competitors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5AFC3"/>
                </a:solidFill>
              </a:defRPr>
            </a:pPr>
            <a:r>
              <a:t>Competitors only offer home visits or static phone directories; CuraStyl owns the visual-to-chair workflow.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/>
                <a:gridCol w="1645920"/>
                <a:gridCol w="1645920"/>
                <a:gridCol w="1645920"/>
                <a:gridCol w="1645920"/>
                <a:gridCol w="1645920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Feature / Capability</a:t>
                      </a:r>
                    </a:p>
                  </a:txBody>
                  <a:tcPr>
                    <a:solidFill>
                      <a:srgbClr val="19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CuraStyl ✨</a:t>
                      </a:r>
                    </a:p>
                  </a:txBody>
                  <a:tcPr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Urban Company</a:t>
                      </a:r>
                    </a:p>
                  </a:txBody>
                  <a:tcPr>
                    <a:solidFill>
                      <a:srgbClr val="19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Fresha</a:t>
                      </a:r>
                    </a:p>
                  </a:txBody>
                  <a:tcPr>
                    <a:solidFill>
                      <a:srgbClr val="19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Nykaa / Purplle</a:t>
                      </a:r>
                    </a:p>
                  </a:txBody>
                  <a:tcPr>
                    <a:solidFill>
                      <a:srgbClr val="19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FFFFFF"/>
                          </a:solidFill>
                        </a:defRPr>
                      </a:pPr>
                      <a:r>
                        <a:t>JustDial / G-Maps</a:t>
                      </a:r>
                    </a:p>
                  </a:txBody>
                  <a:tcPr>
                    <a:solidFill>
                      <a:srgbClr val="191F3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Real-Time 3D WebAR Try-On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6B6D4"/>
                          </a:solidFill>
                        </a:defRPr>
                      </a:pPr>
                      <a:r>
                        <a:t>✅ Live 3D FaceMesh</a:t>
                      </a:r>
                    </a:p>
                  </a:txBody>
                  <a:tcPr>
                    <a:solidFill>
                      <a:srgbClr val="1E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⚠️ 2D Makeup only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Gemini Multimodal AI Stylist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6B6D4"/>
                          </a:solidFill>
                        </a:defRPr>
                      </a:pPr>
                      <a:r>
                        <a:t>✅ AuraAI (Voice/Img)</a:t>
                      </a:r>
                    </a:p>
                  </a:txBody>
                  <a:tcPr>
                    <a:solidFill>
                      <a:srgbClr val="1E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❌ Basic FAQ bot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❌ Basic search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Hyperlocal Physical Salon Booking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6B6D4"/>
                          </a:solidFill>
                        </a:defRPr>
                      </a:pPr>
                      <a:r>
                        <a:t>✅ Real-time Slot Lock</a:t>
                      </a:r>
                    </a:p>
                  </a:txBody>
                  <a:tcPr>
                    <a:solidFill>
                      <a:srgbClr val="1E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❌ At-home only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⚠️ Limited in India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❌ E-commerce focus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❌ Unverified phone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Salon B2B ERP &amp; Live Calendar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6B6D4"/>
                          </a:solidFill>
                        </a:defRPr>
                      </a:pPr>
                      <a:r>
                        <a:t>✅ Built-in SaaS</a:t>
                      </a:r>
                    </a:p>
                  </a:txBody>
                  <a:tcPr>
                    <a:solidFill>
                      <a:srgbClr val="1E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❌ Closed gig model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⚠️ Expensive SaaS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Loyalty Economy (GlamPoints)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06B6D4"/>
                          </a:solidFill>
                        </a:defRPr>
                      </a:pPr>
                      <a:r>
                        <a:t>✅ Integrated Checkout</a:t>
                      </a:r>
                    </a:p>
                  </a:txBody>
                  <a:tcPr>
                    <a:solidFill>
                      <a:srgbClr val="1E14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⚠️ UC Plus pass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⚠️ E-com points only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>
                          <a:solidFill>
                            <a:srgbClr val="FFFFFF"/>
                          </a:solidFill>
                        </a:defRPr>
                      </a:pPr>
                      <a:r>
                        <a:t>❌ None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BUSINESS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5 High-Margin, Diversified Revenue Streams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5AFC3"/>
                </a:solidFill>
              </a:defRPr>
            </a:pPr>
            <a:r>
              <a:t>Multiple synergistic monetization levers creating robust unit economics and high recurring revenue.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2194560"/>
          </a:xfrm>
          <a:prstGeom prst="roundRect">
            <a:avLst/>
          </a:prstGeom>
          <a:solidFill>
            <a:srgbClr val="121626"/>
          </a:solidFill>
          <a:ln w="15240">
            <a:solidFill>
              <a:srgbClr val="28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320040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A855F7"/>
                </a:solidFill>
              </a:defRPr>
            </a:pPr>
            <a:r>
              <a:t>1. Marketplace Commission (8% - 12%)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Charged per confirmed booking facilitated through CuraStyl.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Zero commission on initial 20 bookings to drive frictionless onboarding.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Predictable recurring take-rate scaling directly with platform GMV.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2194560"/>
          </a:xfrm>
          <a:prstGeom prst="roundRect">
            <a:avLst/>
          </a:prstGeom>
          <a:solidFill>
            <a:srgbClr val="121626"/>
          </a:solidFill>
          <a:ln w="15240">
            <a:solidFill>
              <a:srgbClr val="28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320040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06B6D4"/>
                </a:solidFill>
              </a:defRPr>
            </a:pPr>
            <a:r>
              <a:t>2. Salon B2B SaaS Subscriptions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Starter Tier: Free (up to 50 bookings/month).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Pro Plan (₹999/mo): Live calendar, staff management &amp; analytics.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Enterprise Plan (₹2,499/mo): Multi-branch ERP, SMS reminders, CRM.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74720" cy="2194560"/>
          </a:xfrm>
          <a:prstGeom prst="roundRect">
            <a:avLst/>
          </a:prstGeom>
          <a:solidFill>
            <a:srgbClr val="121626"/>
          </a:solidFill>
          <a:ln w="15240">
            <a:solidFill>
              <a:srgbClr val="28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783080"/>
            <a:ext cx="3200400" cy="1920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EC4899"/>
                </a:solidFill>
              </a:defRPr>
            </a:pPr>
            <a:r>
              <a:t>3. Featured Listings &amp; Sponsored Salons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Hyperlocal ad placement for top-of-search in Bandra, BKC, Andheri.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Flash deals &amp; seasonal banner promotions for beauty festivals.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High-margin advertising engine (₹1,500 - ₹5,000 per salon/month).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303520" cy="2286000"/>
          </a:xfrm>
          <a:prstGeom prst="roundRect">
            <a:avLst/>
          </a:prstGeom>
          <a:solidFill>
            <a:srgbClr val="121626"/>
          </a:solidFill>
          <a:ln w="15240">
            <a:solidFill>
              <a:srgbClr val="28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50292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22C55E"/>
                </a:solidFill>
              </a:defRPr>
            </a:pPr>
            <a:r>
              <a:t>4. AI Style DNA &amp; Customer Pro Pass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Freemium AI consultations &amp; virtual try-ons.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Pro Customer Pass (₹199/mo): Unlimited HD AR exports, premium salon discounts, 2x GlamPoints booster.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4023360"/>
            <a:ext cx="5303520" cy="2286000"/>
          </a:xfrm>
          <a:prstGeom prst="roundRect">
            <a:avLst/>
          </a:prstGeom>
          <a:solidFill>
            <a:srgbClr val="121626"/>
          </a:solidFill>
          <a:ln w="15240">
            <a:solidFill>
              <a:srgbClr val="28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4160520"/>
            <a:ext cx="502920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FBBF24"/>
                </a:solidFill>
              </a:defRPr>
            </a:pPr>
            <a:r>
              <a:t>5. GlamPoints Loyalty Economy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Commission arbitrage on point redemption partnerships.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Brand-sponsored vouchers and beauty sample product promotions.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FINANCIAL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Realistic Growth Forecast &amp; Unit Economics (FY26–FY30)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5AFC3"/>
                </a:solidFill>
              </a:defRPr>
            </a:pPr>
            <a:r>
              <a:t>Grounded student-founder roadmap: starting lean in Mumbai, scaling to ₹61.5 Cr revenue with 78% Gross Margin.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4206240" cy="4663440"/>
          </a:xfrm>
          <a:prstGeom prst="roundRect">
            <a:avLst/>
          </a:prstGeom>
          <a:solidFill>
            <a:srgbClr val="191F34"/>
          </a:solidFill>
          <a:ln w="1524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39319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22C55E"/>
                </a:solidFill>
              </a:defRPr>
            </a:pPr>
            <a:r>
              <a:t>Healthy Unit Economics (Per Customer)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Average Order Value (AOV): ₹850 (Blended Men &amp; Women).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Customer Acquisition Cost (CAC): ₹180 (Organic AR virality &amp; campus loops).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Average Visits per Year: 8.5 visits.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Annual Customer GMV: ₹7,225.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Platform Net Take Rate: 10% = ₹722.50 / year.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Customer Lifetime Value (LTV, 3 Yrs): ₹2,167.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LTV / CAC Ratio: 12.0x (Outstanding SaaS/Marketplace benchmark).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CAC Payback Period: 2.8 months.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Gross Margin: 78% (Cloud-native Next.js &amp; Supabase architecture).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212080" y="1645920"/>
          <a:ext cx="6217920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097280"/>
                <a:gridCol w="1097280"/>
                <a:gridCol w="1097280"/>
                <a:gridCol w="1097280"/>
              </a:tblGrid>
              <a:tr h="77724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Metric / Year</a:t>
                      </a:r>
                    </a:p>
                  </a:txBody>
                  <a:tcPr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FY26 (Y1)</a:t>
                      </a:r>
                    </a:p>
                  </a:txBody>
                  <a:tcPr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FY27 (Y2)</a:t>
                      </a:r>
                    </a:p>
                  </a:txBody>
                  <a:tcPr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FY28 (Y3)</a:t>
                      </a:r>
                    </a:p>
                  </a:txBody>
                  <a:tcPr>
                    <a:solidFill>
                      <a:srgbClr val="A855F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FY30 (Y5)</a:t>
                      </a:r>
                    </a:p>
                  </a:txBody>
                  <a:tcPr>
                    <a:solidFill>
                      <a:srgbClr val="A855F7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Onboarded Salons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6B6D4"/>
                          </a:solidFill>
                        </a:defRPr>
                      </a:pPr>
                      <a:r>
                        <a:t>350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6B6D4"/>
                          </a:solidFill>
                        </a:defRPr>
                      </a:pPr>
                      <a:r>
                        <a:t>1,800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6B6D4"/>
                          </a:solidFill>
                        </a:defRPr>
                      </a:pPr>
                      <a:r>
                        <a:t>6,500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6B6D4"/>
                          </a:solidFill>
                        </a:defRPr>
                      </a:pPr>
                      <a:r>
                        <a:t>25,000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Active Customers</a:t>
                      </a:r>
                    </a:p>
                  </a:txBody>
                  <a:tcPr>
                    <a:solidFill>
                      <a:srgbClr val="19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6B6D4"/>
                          </a:solidFill>
                        </a:defRPr>
                      </a:pPr>
                      <a:r>
                        <a:t>45,000</a:t>
                      </a:r>
                    </a:p>
                  </a:txBody>
                  <a:tcPr>
                    <a:solidFill>
                      <a:srgbClr val="19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6B6D4"/>
                          </a:solidFill>
                        </a:defRPr>
                      </a:pPr>
                      <a:r>
                        <a:t>280,000</a:t>
                      </a:r>
                    </a:p>
                  </a:txBody>
                  <a:tcPr>
                    <a:solidFill>
                      <a:srgbClr val="19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6B6D4"/>
                          </a:solidFill>
                        </a:defRPr>
                      </a:pPr>
                      <a:r>
                        <a:t>1,100,000</a:t>
                      </a:r>
                    </a:p>
                  </a:txBody>
                  <a:tcPr>
                    <a:solidFill>
                      <a:srgbClr val="19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6B6D4"/>
                          </a:solidFill>
                        </a:defRPr>
                      </a:pPr>
                      <a:r>
                        <a:t>4,800,000</a:t>
                      </a:r>
                    </a:p>
                  </a:txBody>
                  <a:tcPr>
                    <a:solidFill>
                      <a:srgbClr val="191F3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Total Bookings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6B6D4"/>
                          </a:solidFill>
                        </a:defRPr>
                      </a:pPr>
                      <a:r>
                        <a:t>180,000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6B6D4"/>
                          </a:solidFill>
                        </a:defRPr>
                      </a:pPr>
                      <a:r>
                        <a:t>1,400,000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6B6D4"/>
                          </a:solidFill>
                        </a:defRPr>
                      </a:pPr>
                      <a:r>
                        <a:t>6,200,000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6B6D4"/>
                          </a:solidFill>
                        </a:defRPr>
                      </a:pPr>
                      <a:r>
                        <a:t>32,000,000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FFFFF"/>
                          </a:solidFill>
                        </a:defRPr>
                      </a:pPr>
                      <a:r>
                        <a:t>Gross Platform GMV</a:t>
                      </a:r>
                    </a:p>
                  </a:txBody>
                  <a:tcPr>
                    <a:solidFill>
                      <a:srgbClr val="19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6B6D4"/>
                          </a:solidFill>
                        </a:defRPr>
                      </a:pPr>
                      <a:r>
                        <a:t>₹15.3 Cr</a:t>
                      </a:r>
                    </a:p>
                  </a:txBody>
                  <a:tcPr>
                    <a:solidFill>
                      <a:srgbClr val="19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6B6D4"/>
                          </a:solidFill>
                        </a:defRPr>
                      </a:pPr>
                      <a:r>
                        <a:t>₹119.0 Cr</a:t>
                      </a:r>
                    </a:p>
                  </a:txBody>
                  <a:tcPr>
                    <a:solidFill>
                      <a:srgbClr val="19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6B6D4"/>
                          </a:solidFill>
                        </a:defRPr>
                      </a:pPr>
                      <a:r>
                        <a:t>₹527.0 Cr</a:t>
                      </a:r>
                    </a:p>
                  </a:txBody>
                  <a:tcPr>
                    <a:solidFill>
                      <a:srgbClr val="191F3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0">
                          <a:solidFill>
                            <a:srgbClr val="06B6D4"/>
                          </a:solidFill>
                        </a:defRPr>
                      </a:pPr>
                      <a:r>
                        <a:t>₹2,720 Cr</a:t>
                      </a:r>
                    </a:p>
                  </a:txBody>
                  <a:tcPr>
                    <a:solidFill>
                      <a:srgbClr val="191F34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algn="l">
                        <a:defRPr sz="950" b="1">
                          <a:solidFill>
                            <a:srgbClr val="FBBF24"/>
                          </a:solidFill>
                        </a:defRPr>
                      </a:pPr>
                      <a:r>
                        <a:t>Net Revenue (CuraStyl)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BBF24"/>
                          </a:solidFill>
                        </a:defRPr>
                      </a:pPr>
                      <a:r>
                        <a:t>₹1.53 Cr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BBF24"/>
                          </a:solidFill>
                        </a:defRPr>
                      </a:pPr>
                      <a:r>
                        <a:t>₹13.1 Cr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BBF24"/>
                          </a:solidFill>
                        </a:defRPr>
                      </a:pPr>
                      <a:r>
                        <a:t>₹61.5 Cr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50" b="1">
                          <a:solidFill>
                            <a:srgbClr val="FBBF24"/>
                          </a:solidFill>
                        </a:defRPr>
                      </a:pPr>
                      <a:r>
                        <a:t>₹142.0 Cr</a:t>
                      </a:r>
                    </a:p>
                  </a:txBody>
                  <a:tcPr>
                    <a:solidFill>
                      <a:srgbClr val="12162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GO-TO-MARKET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3-Phase High-Velocity Execution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5AFC3"/>
                </a:solidFill>
              </a:defRPr>
            </a:pPr>
            <a:r>
              <a:t>Hyperlocal cluster strategy ensuring dense salon supply, instant booking reliability, and viral organic growth.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74720" cy="4663440"/>
          </a:xfrm>
          <a:prstGeom prst="roundRect">
            <a:avLst/>
          </a:prstGeom>
          <a:solidFill>
            <a:srgbClr val="121626"/>
          </a:solidFill>
          <a:ln w="15240">
            <a:solidFill>
              <a:srgbClr val="28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3200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A855F7"/>
                </a:solidFill>
              </a:defRPr>
            </a:pPr>
            <a:r>
              <a:t>Phase 1: Mumbai Beachhead (Months 1–6)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Target Hubs: BKC, Bandra West, Andheri, Powai, Juhu.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Supply Onboarding: 200 premium &amp; neighborhood unisex salons with 0% commission launch.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Demand Engine: College campus ambassadors (FRCRCE, NMIMS, Mithibai) &amp; localized Instagram AR filter challenges.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Milestone: 30,000 completed bookings &amp; ₹2.5 Cr GMV.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645920"/>
            <a:ext cx="3474720" cy="4663440"/>
          </a:xfrm>
          <a:prstGeom prst="roundRect">
            <a:avLst/>
          </a:prstGeom>
          <a:solidFill>
            <a:srgbClr val="121626"/>
          </a:solidFill>
          <a:ln w="15240">
            <a:solidFill>
              <a:srgbClr val="28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783080"/>
            <a:ext cx="3200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06B6D4"/>
                </a:solidFill>
              </a:defRPr>
            </a:pPr>
            <a:r>
              <a:t>Phase 2: Tier 1 Metros (Months 7–18)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Expansion Hubs: Bengaluru (Koramangala, Indiranagar), Delhi-NCR (Gurgaon, South Delhi), Pune, Hyderabad.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B2B SaaS Monetization: Roll out Pro &amp; Enterprise tiers (₹999 - ₹2,499/mo).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Influencer Partnerships: 50+ beauty creators showcasing AuraAI Before &amp; After WebAR transformations.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Milestone: 1,500 active salons &amp; ₹40 Cr GMV.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955280" y="1645920"/>
            <a:ext cx="3474720" cy="4663440"/>
          </a:xfrm>
          <a:prstGeom prst="roundRect">
            <a:avLst/>
          </a:prstGeom>
          <a:solidFill>
            <a:srgbClr val="121626"/>
          </a:solidFill>
          <a:ln w="15240">
            <a:solidFill>
              <a:srgbClr val="28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1783080"/>
            <a:ext cx="320040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EC4899"/>
                </a:solidFill>
              </a:defRPr>
            </a:pPr>
            <a:r>
              <a:t>Phase 3: Pan-India Dominance (Months 19–36)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Expansion: Tier 2 cities (Chandigarh, Ahmedabad, Jaipur, Kochi, Indore).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Product Expansion: AI Skin Analysis, Dynamic Peak Pricing, Salon Inventory E-commerce.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Enterprise Salon Chains: Integration with national salon franchises.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Milestone: 10,000+ salons, ₹250+ Cr GMV, clear #1 market leadership.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C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A855F7"/>
                </a:solidFill>
              </a:defRPr>
            </a:pPr>
            <a:r>
              <a:t>THE ASK &amp;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Backing India’s Next Beauty-Tech Breakthrough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A5AFC3"/>
                </a:solidFill>
              </a:defRPr>
            </a:pPr>
            <a:r>
              <a:t>Seeking ₹25–50 Lakhs Seed Support / PitchX 2026 Champion Grant to scale Mumbai and launch in Bengaluru.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91F34"/>
          </a:solidFill>
          <a:ln w="1524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FBBF24"/>
                </a:solidFill>
              </a:defRPr>
            </a:pPr>
            <a:r>
              <a:t>Funding &amp; Resource Deployment (18 Months)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40% — Salon Merchant Acquisition &amp; On-Ground BD in Mumbai &amp; Bengaluru.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30% — AI &amp; 3D Engineering: Expanded 3D hairstyle asset library &amp; multi-angle try-on.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20% — Hyperlocal Campus Marketing &amp; Instagram AR Viral Challenges.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10% — Cloud Infrastructure (Supabase, Vercel) &amp; Operational Reserve.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Target 18-Month Output: 1,000 onboarded salons, 350,000 bookings, and ₹25 Cr GMV.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91F34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783080"/>
            <a:ext cx="493776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500"/>
              </a:spcAft>
              <a:defRPr sz="1250" b="1">
                <a:solidFill>
                  <a:srgbClr val="06B6D4"/>
                </a:solidFill>
              </a:defRPr>
            </a:pPr>
            <a:r>
              <a:t>Team AgniDev’s (FRCRCE) — Built for Speed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👨‍💻 Shreyas Mahajan: Full-Stack &amp; 3D WebAR Lead (Three.js, MediaPipe).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🧠 Arnav Brahmane: AI Architect &amp; Multimodal LLM Lead (Gemini 1.5).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📈 Akshat Churi: Product Management, Growth &amp; Business Ops Lead.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Proven Execution: 100% functional live app deployed with zero external capital.</a:t>
            </a:r>
          </a:p>
          <a:p>
            <a:pPr>
              <a:spcAft>
                <a:spcPts val="200"/>
              </a:spcAft>
            </a:pP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🚀 Live Demo: https://curastyl.agnidev.me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📧 Contact: founders@curastyl.agnidev.me | BKC, Mumbai</a:t>
            </a:r>
          </a:p>
          <a:p>
            <a:pPr>
              <a:spcAft>
                <a:spcPts val="350"/>
              </a:spcAft>
              <a:defRPr sz="1000">
                <a:solidFill>
                  <a:srgbClr val="FFFFFF"/>
                </a:solidFill>
              </a:defRPr>
            </a:pPr>
            <a:r>
              <a:t>• 🏆 PitchX 2026 Winner Contender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